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71" r:id="rId5"/>
    <p:sldId id="258" r:id="rId6"/>
    <p:sldId id="261" r:id="rId7"/>
    <p:sldId id="259" r:id="rId8"/>
    <p:sldId id="260" r:id="rId9"/>
    <p:sldId id="262" r:id="rId10"/>
    <p:sldId id="263" r:id="rId11"/>
    <p:sldId id="264" r:id="rId12"/>
    <p:sldId id="266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98"/>
    <p:restoredTop sz="94618"/>
  </p:normalViewPr>
  <p:slideViewPr>
    <p:cSldViewPr snapToGrid="0" snapToObjects="1">
      <p:cViewPr varScale="1">
        <p:scale>
          <a:sx n="210" d="100"/>
          <a:sy n="210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hinyproxy.io/documentation/demos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Adding a Shiny App to the
CRI Biocore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CCCCCC"/>
                </a:solidFill>
              </a:rPr>
              <a:t>A step-by-step guide  ·  Git  →  Claude Code  →  GitHub Actions  →  </a:t>
            </a:r>
            <a:r>
              <a:rPr sz="2200" b="0" i="0" dirty="0" err="1">
                <a:solidFill>
                  <a:srgbClr val="CCCCCC"/>
                </a:solidFill>
              </a:rPr>
              <a:t>ShinyProxy</a:t>
            </a:r>
            <a:endParaRPr sz="2200" b="0" i="0" dirty="0">
              <a:solidFill>
                <a:srgbClr val="CCCC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9999"/>
                </a:solidFill>
              </a:rPr>
              <a:t>CRI Bioinformatics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Big Picture</a:t>
            </a:r>
          </a:p>
          <a:p>
            <a:pPr algn="l"/>
            <a:r>
              <a:rPr sz="1500">
                <a:solidFill>
                  <a:srgbClr val="FFCCCC"/>
                </a:solidFill>
              </a:rPr>
              <a:t>End-to-end workflow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6" y="2560320"/>
            <a:ext cx="1828800" cy="16459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663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Your R
App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(local)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2596" y="3063240"/>
            <a:ext cx="365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8356" y="2560320"/>
            <a:ext cx="1828800" cy="1645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4835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835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GitHub
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835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(PR)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4316" y="3063240"/>
            <a:ext cx="365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0076" y="2560320"/>
            <a:ext cx="1828800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8007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007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GitHub
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007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(auto)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6036" y="3063240"/>
            <a:ext cx="365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1796" y="2560320"/>
            <a:ext cx="182880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1179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179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ShinyProxy
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179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(deploy)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7756" y="3063240"/>
            <a:ext cx="365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43516" y="2560320"/>
            <a:ext cx="1828800" cy="1645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4351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351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Live App
in 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351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(done!)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37760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 dirty="0">
                <a:solidFill>
                  <a:srgbClr val="888888"/>
                </a:solidFill>
              </a:rPr>
              <a:t>You write R code. </a:t>
            </a:r>
            <a:endParaRPr lang="en-US" sz="2000" b="0" i="1" dirty="0">
              <a:solidFill>
                <a:srgbClr val="888888"/>
              </a:solidFill>
            </a:endParaRPr>
          </a:p>
          <a:p>
            <a:pPr algn="ctr"/>
            <a:r>
              <a:rPr sz="2000" b="0" i="1" dirty="0">
                <a:solidFill>
                  <a:srgbClr val="888888"/>
                </a:solidFill>
              </a:rPr>
              <a:t> Claude + GitHub Actions handle everything else.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https://</a:t>
            </a:r>
            <a:r>
              <a:rPr lang="en-US" dirty="0" err="1"/>
              <a:t>www.shinyproxy.io</a:t>
            </a:r>
            <a:r>
              <a:rPr lang="en-US" dirty="0"/>
              <a:t>/https://</a:t>
            </a:r>
            <a:r>
              <a:rPr lang="en-US" dirty="0" err="1"/>
              <a:t>www.shinyproxy.io</a:t>
            </a:r>
            <a:r>
              <a:rPr lang="en-US" dirty="0"/>
              <a:t>/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How </a:t>
            </a:r>
            <a:r>
              <a:rPr sz="3200" b="1" dirty="0" err="1">
                <a:solidFill>
                  <a:srgbClr val="FFFFFF"/>
                </a:solidFill>
              </a:rPr>
              <a:t>ShinyProxy</a:t>
            </a:r>
            <a:r>
              <a:rPr sz="3200" b="1" dirty="0">
                <a:solidFill>
                  <a:srgbClr val="FFFFFF"/>
                </a:solidFill>
              </a:rPr>
              <a:t> Serves Your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2560320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User
Browser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743200"/>
            <a:ext cx="2560320" cy="11887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29260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ShinyProxy
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App A
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29184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34747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App B
Container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75488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4937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App C
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06324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14884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6118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0749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069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888888"/>
                </a:solidFill>
              </a:rPr>
              <a:t>reads </a:t>
            </a:r>
            <a:r>
              <a:rPr sz="1200" b="0" i="1" dirty="0" err="1">
                <a:solidFill>
                  <a:srgbClr val="888888"/>
                </a:solidFill>
              </a:rPr>
              <a:t>application.yml</a:t>
            </a:r>
            <a:r>
              <a:rPr sz="1200" b="0" i="1" dirty="0">
                <a:solidFill>
                  <a:srgbClr val="888888"/>
                </a:solidFill>
              </a:rPr>
              <a:t>
to know which apps exist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420" y="4803824"/>
            <a:ext cx="11247120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dirty="0">
                <a:solidFill>
                  <a:srgbClr val="333333"/>
                </a:solidFill>
              </a:rPr>
              <a:t>▸  Each user gets their own isolated </a:t>
            </a:r>
            <a:r>
              <a:rPr sz="1700" b="1" dirty="0">
                <a:solidFill>
                  <a:srgbClr val="333333"/>
                </a:solidFill>
              </a:rPr>
              <a:t>Docker</a:t>
            </a:r>
            <a:r>
              <a:rPr sz="1700" dirty="0">
                <a:solidFill>
                  <a:srgbClr val="333333"/>
                </a:solidFill>
              </a:rPr>
              <a:t> container session</a:t>
            </a:r>
          </a:p>
          <a:p>
            <a:pPr>
              <a:spcBef>
                <a:spcPts val="400"/>
              </a:spcBef>
            </a:pPr>
            <a:r>
              <a:rPr sz="1700" dirty="0">
                <a:solidFill>
                  <a:srgbClr val="333333"/>
                </a:solidFill>
              </a:rPr>
              <a:t>▸  Container starts when user opens the app, stops when they close it</a:t>
            </a:r>
          </a:p>
          <a:p>
            <a:pPr>
              <a:spcBef>
                <a:spcPts val="400"/>
              </a:spcBef>
            </a:pPr>
            <a:r>
              <a:rPr sz="1700" dirty="0">
                <a:solidFill>
                  <a:srgbClr val="333333"/>
                </a:solidFill>
              </a:rPr>
              <a:t>▸  Public apps: no login  ·  Private apps: </a:t>
            </a:r>
            <a:r>
              <a:rPr sz="1700" dirty="0" err="1">
                <a:solidFill>
                  <a:srgbClr val="333333"/>
                </a:solidFill>
              </a:rPr>
              <a:t>CNet</a:t>
            </a:r>
            <a:r>
              <a:rPr sz="1700" dirty="0">
                <a:solidFill>
                  <a:srgbClr val="333333"/>
                </a:solidFill>
              </a:rPr>
              <a:t> (LDAP) authentication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9C1EE-BFFD-9709-D7AB-FF394D8FEA70}"/>
              </a:ext>
            </a:extLst>
          </p:cNvPr>
          <p:cNvSpPr txBox="1"/>
          <p:nvPr/>
        </p:nvSpPr>
        <p:spPr>
          <a:xfrm>
            <a:off x="428739" y="615077"/>
            <a:ext cx="613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www.shinyproxy.io</a:t>
            </a:r>
            <a:r>
              <a:rPr lang="en-US" dirty="0"/>
              <a:t>/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9FDC16-51BB-F439-E158-5281AE30EC88}"/>
              </a:ext>
            </a:extLst>
          </p:cNvPr>
          <p:cNvSpPr txBox="1"/>
          <p:nvPr/>
        </p:nvSpPr>
        <p:spPr>
          <a:xfrm>
            <a:off x="203469" y="1250693"/>
            <a:ext cx="83713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 err="1">
                <a:solidFill>
                  <a:srgbClr val="222222"/>
                </a:solidFill>
                <a:effectLst/>
                <a:latin typeface="atkinson hyperlegible"/>
              </a:rPr>
              <a:t>ShinyProxy</a:t>
            </a:r>
            <a:r>
              <a:rPr lang="en-US" b="0" i="0" dirty="0">
                <a:solidFill>
                  <a:srgbClr val="222222"/>
                </a:solidFill>
                <a:effectLst/>
                <a:latin typeface="atkinson hyperlegible"/>
              </a:rPr>
              <a:t> is platform to </a:t>
            </a:r>
            <a:r>
              <a:rPr lang="en-US" b="1" i="0" dirty="0">
                <a:solidFill>
                  <a:srgbClr val="222222"/>
                </a:solidFill>
                <a:effectLst/>
                <a:latin typeface="atkinson hyperlegible"/>
              </a:rPr>
              <a:t>deploy data science apps in an enterprise context</a:t>
            </a:r>
            <a:r>
              <a:rPr lang="en-US" b="0" i="0" dirty="0">
                <a:solidFill>
                  <a:srgbClr val="222222"/>
                </a:solidFill>
                <a:effectLst/>
                <a:latin typeface="atkinson hyperlegible"/>
              </a:rPr>
              <a:t> (Shiny, Dash,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tkinson hyperlegible"/>
              </a:rPr>
              <a:t>Streamlit</a:t>
            </a:r>
            <a:r>
              <a:rPr lang="en-US" b="0" i="0" dirty="0">
                <a:solidFill>
                  <a:srgbClr val="222222"/>
                </a:solidFill>
                <a:effectLst/>
                <a:latin typeface="atkinson hyperlegible"/>
              </a:rPr>
              <a:t>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tkinson hyperlegible"/>
              </a:rPr>
              <a:t>Jupyter</a:t>
            </a:r>
            <a:r>
              <a:rPr lang="en-US" b="0" i="0" dirty="0">
                <a:solidFill>
                  <a:srgbClr val="222222"/>
                </a:solidFill>
                <a:effectLst/>
                <a:latin typeface="atkinson hyperlegible"/>
              </a:rPr>
              <a:t> notebooks, IDEs and </a:t>
            </a:r>
            <a:r>
              <a:rPr lang="en-US" b="0" i="0" u="none" strike="noStrike" dirty="0">
                <a:solidFill>
                  <a:srgbClr val="E52323"/>
                </a:solidFill>
                <a:effectLst/>
                <a:latin typeface="atkinson hyperlegible"/>
                <a:hlinkClick r:id="rId2"/>
              </a:rPr>
              <a:t>more</a:t>
            </a:r>
            <a:r>
              <a:rPr lang="en-US" b="0" i="0" dirty="0">
                <a:solidFill>
                  <a:srgbClr val="222222"/>
                </a:solidFill>
                <a:effectLst/>
                <a:latin typeface="atkinson hyperlegible"/>
              </a:rPr>
              <a:t>).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3230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What is GitHub Actions?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The short version: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 dirty="0">
                <a:solidFill>
                  <a:srgbClr val="333333"/>
                </a:solidFill>
              </a:rPr>
              <a:t>GitHub Actions is a robot that watches your
repository and automatically runs tasks
whenever something happens — like a PR merge.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5303520" cy="176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US" sz="1700" dirty="0">
                <a:solidFill>
                  <a:srgbClr val="333333"/>
                </a:solidFill>
              </a:rPr>
              <a:t> You're a scientist. When you submit a paper, a journal editor automatically triggers peer review, typesetting, and publication — you don't coordinate each step yourself.</a:t>
            </a:r>
          </a:p>
          <a:p>
            <a:pPr>
              <a:spcBef>
                <a:spcPts val="400"/>
              </a:spcBef>
            </a:pPr>
            <a:endParaRPr lang="en-US" sz="17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1700" dirty="0">
                <a:solidFill>
                  <a:srgbClr val="333333"/>
                </a:solidFill>
              </a:rPr>
              <a:t>GitHub Actions is that same kind of automatic pipeline, but for code.</a:t>
            </a:r>
            <a:endParaRPr sz="1700" dirty="0">
              <a:solidFill>
                <a:srgbClr val="33333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0" y="1783080"/>
            <a:ext cx="539496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5029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A8E6A3"/>
                </a:solidFill>
                <a:latin typeface="Courier New"/>
              </a:rPr>
              <a:t>on: push to main branch</a:t>
            </a:r>
          </a:p>
          <a:p>
            <a:endParaRPr sz="1600" dirty="0">
              <a:solidFill>
                <a:srgbClr val="A8E6A3"/>
              </a:solidFill>
              <a:latin typeface="Courier New"/>
            </a:endParaRP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jobs:</a:t>
            </a: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build:</a:t>
            </a: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  - Check out the code</a:t>
            </a: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  - Push image to GHCR</a:t>
            </a:r>
            <a:r>
              <a:rPr lang="en-US" sz="1600" dirty="0">
                <a:solidFill>
                  <a:srgbClr val="A8E6A3"/>
                </a:solidFill>
                <a:latin typeface="Courier New"/>
              </a:rPr>
              <a:t> (built-in storage for Docker images)</a:t>
            </a:r>
            <a:endParaRPr sz="1600" dirty="0">
              <a:solidFill>
                <a:srgbClr val="A8E6A3"/>
              </a:solidFill>
              <a:latin typeface="Courier New"/>
            </a:endParaRPr>
          </a:p>
          <a:p>
            <a:endParaRPr sz="1600" dirty="0">
              <a:solidFill>
                <a:srgbClr val="A8E6A3"/>
              </a:solidFill>
              <a:latin typeface="Courier New"/>
            </a:endParaRP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deploy:</a:t>
            </a: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  - SSH into production server</a:t>
            </a: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  - Pull new Docker image</a:t>
            </a: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  - Restart </a:t>
            </a:r>
            <a:r>
              <a:rPr sz="1600" dirty="0" err="1">
                <a:solidFill>
                  <a:srgbClr val="A8E6A3"/>
                </a:solidFill>
                <a:latin typeface="Courier New"/>
              </a:rPr>
              <a:t>ShinyProxy</a:t>
            </a:r>
            <a:endParaRPr sz="1600" dirty="0">
              <a:solidFill>
                <a:srgbClr val="A8E6A3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You Need 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4139" y="1432157"/>
            <a:ext cx="10972800" cy="4349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dirty="0">
                <a:solidFill>
                  <a:srgbClr val="333333"/>
                </a:solidFill>
              </a:rPr>
              <a:t>▸  Your Shiny app files  (</a:t>
            </a:r>
            <a:r>
              <a:rPr sz="2000" dirty="0" err="1">
                <a:solidFill>
                  <a:srgbClr val="333333"/>
                </a:solidFill>
              </a:rPr>
              <a:t>app.R</a:t>
            </a:r>
            <a:r>
              <a:rPr sz="2000" dirty="0">
                <a:solidFill>
                  <a:srgbClr val="333333"/>
                </a:solidFill>
              </a:rPr>
              <a:t>  or  </a:t>
            </a:r>
            <a:r>
              <a:rPr sz="2000" dirty="0" err="1">
                <a:solidFill>
                  <a:srgbClr val="333333"/>
                </a:solidFill>
              </a:rPr>
              <a:t>server.R</a:t>
            </a:r>
            <a:r>
              <a:rPr sz="2000" dirty="0">
                <a:solidFill>
                  <a:srgbClr val="333333"/>
                </a:solidFill>
              </a:rPr>
              <a:t> + </a:t>
            </a:r>
            <a:r>
              <a:rPr sz="2000" dirty="0" err="1">
                <a:solidFill>
                  <a:srgbClr val="333333"/>
                </a:solidFill>
              </a:rPr>
              <a:t>ui.R</a:t>
            </a:r>
            <a:r>
              <a:rPr sz="2000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r>
              <a:rPr sz="2000" dirty="0">
                <a:solidFill>
                  <a:srgbClr val="333333"/>
                </a:solidFill>
              </a:rPr>
              <a:t>▸  A GitHub account with access to the CRI </a:t>
            </a:r>
            <a:r>
              <a:rPr sz="2000" dirty="0" err="1">
                <a:solidFill>
                  <a:srgbClr val="333333"/>
                </a:solidFill>
              </a:rPr>
              <a:t>Biocore</a:t>
            </a:r>
            <a:r>
              <a:rPr sz="2000" dirty="0">
                <a:solidFill>
                  <a:srgbClr val="333333"/>
                </a:solidFill>
              </a:rPr>
              <a:t> Apps repo</a:t>
            </a:r>
          </a:p>
          <a:p>
            <a:pPr>
              <a:spcBef>
                <a:spcPts val="400"/>
              </a:spcBef>
            </a:pPr>
            <a:endParaRPr lang="en-US" sz="20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2000" b="1" dirty="0">
                <a:solidFill>
                  <a:srgbClr val="333333"/>
                </a:solidFill>
              </a:rPr>
              <a:t> With Claude Code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solidFill>
                  <a:srgbClr val="333333"/>
                </a:solidFill>
              </a:rPr>
              <a:t> - Clone the repo, open Claude Code, and run </a:t>
            </a:r>
            <a:r>
              <a:rPr lang="en-US" sz="2000" b="1" dirty="0">
                <a:solidFill>
                  <a:srgbClr val="333333"/>
                </a:solidFill>
              </a:rPr>
              <a:t>/add-shiny-app </a:t>
            </a:r>
            <a:r>
              <a:rPr lang="en-US" sz="2000" dirty="0">
                <a:solidFill>
                  <a:srgbClr val="333333"/>
                </a:solidFill>
              </a:rPr>
              <a:t>— the skill is ready to use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solidFill>
                  <a:srgbClr val="333333"/>
                </a:solidFill>
              </a:rPr>
              <a:t>  - No Docker knowledge required, no manual config editing — Claude handles everything</a:t>
            </a:r>
          </a:p>
          <a:p>
            <a:pPr>
              <a:spcBef>
                <a:spcPts val="400"/>
              </a:spcBef>
            </a:pPr>
            <a:endParaRPr lang="en-US" sz="20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2000" b="1" dirty="0">
                <a:solidFill>
                  <a:srgbClr val="333333"/>
                </a:solidFill>
              </a:rPr>
              <a:t>Without Claude (Manual)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solidFill>
                  <a:srgbClr val="333333"/>
                </a:solidFill>
              </a:rPr>
              <a:t> - Write the </a:t>
            </a:r>
            <a:r>
              <a:rPr lang="en-US" sz="2000" dirty="0" err="1">
                <a:solidFill>
                  <a:srgbClr val="333333"/>
                </a:solidFill>
              </a:rPr>
              <a:t>Dockerfile</a:t>
            </a:r>
            <a:r>
              <a:rPr lang="en-US" sz="2000" dirty="0">
                <a:solidFill>
                  <a:srgbClr val="333333"/>
                </a:solidFill>
              </a:rPr>
              <a:t> manually (R packages, system libraries, etc.)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solidFill>
                  <a:srgbClr val="333333"/>
                </a:solidFill>
              </a:rPr>
              <a:t>  - Manually edit </a:t>
            </a:r>
            <a:r>
              <a:rPr lang="en-US" sz="2000" dirty="0" err="1">
                <a:solidFill>
                  <a:srgbClr val="333333"/>
                </a:solidFill>
              </a:rPr>
              <a:t>shinyproxy</a:t>
            </a:r>
            <a:r>
              <a:rPr lang="en-US" sz="2000" dirty="0">
                <a:solidFill>
                  <a:srgbClr val="333333"/>
                </a:solidFill>
              </a:rPr>
              <a:t>/</a:t>
            </a:r>
            <a:r>
              <a:rPr lang="en-US" sz="2000" dirty="0" err="1">
                <a:solidFill>
                  <a:srgbClr val="333333"/>
                </a:solidFill>
              </a:rPr>
              <a:t>application.yml</a:t>
            </a:r>
            <a:r>
              <a:rPr lang="en-US" sz="2000" dirty="0">
                <a:solidFill>
                  <a:srgbClr val="333333"/>
                </a:solidFill>
              </a:rPr>
              <a:t> and .</a:t>
            </a:r>
            <a:r>
              <a:rPr lang="en-US" sz="2000" dirty="0" err="1">
                <a:solidFill>
                  <a:srgbClr val="333333"/>
                </a:solidFill>
              </a:rPr>
              <a:t>github</a:t>
            </a:r>
            <a:r>
              <a:rPr lang="en-US" sz="2000" dirty="0">
                <a:solidFill>
                  <a:srgbClr val="333333"/>
                </a:solidFill>
              </a:rPr>
              <a:t>/workflows/</a:t>
            </a:r>
            <a:r>
              <a:rPr lang="en-US" sz="2000" dirty="0" err="1">
                <a:solidFill>
                  <a:srgbClr val="333333"/>
                </a:solidFill>
              </a:rPr>
              <a:t>deploy.yml</a:t>
            </a:r>
            <a:endParaRPr lang="en-US" sz="20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lang="en-US" sz="20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2000" dirty="0">
                <a:solidFill>
                  <a:srgbClr val="333333"/>
                </a:solidFill>
              </a:rPr>
              <a:t>Both paths produce the same result — Claude just removes the manual config work.</a:t>
            </a:r>
            <a:endParaRPr sz="20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Claude Generates — Automatically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37160" cy="15087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apps/your-app/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7830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Packages your R app + all dependencies into a Docker container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114300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37160" cy="15087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application-public.yml
(or application.yml)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shinyproxy/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4747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333333"/>
                </a:solidFill>
              </a:rPr>
              <a:t>Registers your app on the server with display name, description, and image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00600"/>
            <a:ext cx="1143000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00600"/>
            <a:ext cx="137160" cy="15087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892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deploy.yml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.github/workflows/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1663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Tells GitHub Actions to build the image and pull it to the server on every push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Step 1 — Clone the Repo &amp; Add Your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1. Clone the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30352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8E6A3"/>
                </a:solidFill>
                <a:latin typeface="Courier New"/>
              </a:rPr>
              <a:t>git clone https://github.com/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  zhongyuli2026/CRI_biocore_apps.git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cd CRI_biocore_apps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2. Drop your app folder inside  apps/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530352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dirty="0">
                <a:solidFill>
                  <a:srgbClr val="333333"/>
                </a:solidFill>
              </a:rPr>
              <a:t>▸  Folder name uses hyphens  (e.g.  030-basic-datatable)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rgbClr val="333333"/>
                </a:solidFill>
              </a:rPr>
              <a:t>▸  Put all .R files in that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93776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8E6A3"/>
                </a:solidFill>
                <a:latin typeface="Courier New"/>
              </a:rPr>
              <a:t>CRI_biocore_apps/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├── apps/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├── DEApp-master/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├── scvizapp/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└── 030-basic-datatable/   ← your app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    ├── server.R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    └── ui.R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├── shinyproxy/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├── application.yml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└── application-public.yml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└── .github/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    └── workflows/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        └── deploy.yml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Step 2 — Run the Claude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</a:rPr>
              <a:t>Open Claude Code in the repo folder and run: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02920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A8E6A3"/>
                </a:solidFill>
                <a:latin typeface="Courier New"/>
              </a:rPr>
              <a:t>claude</a:t>
            </a:r>
          </a:p>
          <a:p>
            <a:r>
              <a:rPr sz="2200">
                <a:solidFill>
                  <a:srgbClr val="A8E6A3"/>
                </a:solidFill>
                <a:latin typeface="Courier New"/>
              </a:rPr>
              <a:t>/add-shiny-app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00000"/>
                </a:solidFill>
              </a:rPr>
              <a:t>Claude will interactively ask you: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❓  App name?  (becomes the folder name, image name, and app ID)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❓  Public or private?  (controls which config file it's registered in)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❓  Display name for the dashboard?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❓  Confirm the R packages it detected?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 Closer Look — The Dockerfile</a:t>
            </a:r>
          </a:p>
          <a:p>
            <a:pPr algn="l"/>
            <a:r>
              <a:rPr sz="1500">
                <a:solidFill>
                  <a:srgbClr val="FFCCCC"/>
                </a:solidFill>
              </a:rPr>
              <a:t>Think of it as a recipe for your app's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Claude auto-detects your R packages and writes this for you: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7132320" cy="3931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6766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8E6A3"/>
                </a:solidFill>
                <a:latin typeface="Courier New"/>
              </a:rPr>
              <a:t>FROM rocker/shiny:4.4.2          # Start with R + Shiny pre-installed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# Install R packages detected from your library() calls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RUN R -e "install.packages(c('ggplot2', 'DT'))"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# Copy your app files into the container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RUN rm -rf /srv/shiny-server/*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COPY . /srv/shiny-server/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EXPOSE 3838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CMD ["/usr/bin/shiny-server"]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874519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192023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4513"/>
                </a:solidFill>
              </a:rPr>
              <a:t>Base image: R 4.4.2
+ Shiny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2697480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2743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4513"/>
                </a:solidFill>
              </a:rPr>
              <a:t>Packages auto-
detected by Claude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4206240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42519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4513"/>
                </a:solidFill>
              </a:rPr>
              <a:t>App files copied 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983480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5029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4513"/>
                </a:solidFill>
              </a:rPr>
              <a:t>Standard Shiny 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Step 3 — Commit and Open a Pull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</a:rPr>
              <a:t>Create a branch, commit all changes, and push: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66928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8E6A3"/>
                </a:solidFill>
                <a:latin typeface="Courier New"/>
              </a:rPr>
              <a:t>git checkout -b yourname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git add apps/your-app/Dockerfile \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        shinyproxy/application-public.yml \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        .github/workflows/deploy.yml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git commit -m "add 030-basic-datatable"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git push origin yourname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Then on GitHub: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▸  Open a Pull Request targeting main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▸  Get it reviewed and approved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▸  Merge the PR  →  deployment starts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4572000"/>
            <a:ext cx="5212080" cy="1188720"/>
          </a:xfrm>
          <a:prstGeom prst="rect">
            <a:avLst/>
          </a:prstGeom>
          <a:solidFill>
            <a:srgbClr val="FFF0F0"/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4663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00000"/>
                </a:solidFill>
              </a:rPr>
              <a:t>⚠   Never push directly to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50749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Pushing to main triggers an immediate
production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Step 4 — </a:t>
            </a:r>
            <a:r>
              <a:rPr sz="3200" b="1" dirty="0">
                <a:solidFill>
                  <a:srgbClr val="FFFFFF"/>
                </a:solidFill>
              </a:rPr>
              <a:t>GitHub Actions Takes Over (Automatically)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888888"/>
                </a:solidFill>
              </a:rPr>
              <a:t>Triggered by: merging the PR into 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Check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Downloads the latest code from the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16352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81635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1635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Build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163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Builds a Docker image from your Dockerfile on GitHub's servers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12464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71246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1246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Push to GHCR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712464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Pushes the image to GitHub Container Registry (ghcr.io)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79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08576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60857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0857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SSH to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60857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Connects to the production server via a self-hosted runner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7550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04688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50468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0468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Pull &amp; restart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50468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Pulls the new image and restarts ShinyProxy — app is live!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00000"/>
                </a:solidFill>
              </a:rPr>
              <a:t>Your only job: merge the PR.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Your App Is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400">
                <a:solidFill>
                  <a:srgbClr val="FFFFFF"/>
                </a:solidFill>
              </a:rPr>
              <a:t>▸  Accessible at the CRI Biocore Apps dashboard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FFFFFF"/>
                </a:solidFill>
              </a:rPr>
              <a:t>▸  Public apps: open to anyone · Private apps: CNet login required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FFFFFF"/>
                </a:solidFill>
              </a:rPr>
              <a:t>▸  Thumbnail and description shown on the landing page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FFFFFF"/>
                </a:solidFill>
              </a:rPr>
              <a:t>▸  Automatically rebuilt and redeployed on every future PR merge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Need to update your app?  Just edit the code, open a new PR, and merge.
Everything else is automatic.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1135</Words>
  <Application>Microsoft Macintosh PowerPoint</Application>
  <PresentationFormat>Custom</PresentationFormat>
  <Paragraphs>177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atkinson hyperlegible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Zhongyu Li</cp:lastModifiedBy>
  <cp:revision>10</cp:revision>
  <dcterms:created xsi:type="dcterms:W3CDTF">2013-01-27T09:14:16Z</dcterms:created>
  <dcterms:modified xsi:type="dcterms:W3CDTF">2026-05-13T18:40:36Z</dcterms:modified>
  <cp:category/>
</cp:coreProperties>
</file>